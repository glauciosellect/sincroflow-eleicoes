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101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48589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02920" y="347472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SyncroFlow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Inteligente de Campanha · Eleições 2026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4572000" cy="3657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4754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 eleitorado fala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2h da manhã.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0C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SyncroFlow responde.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2907792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configurada com o seu programa, atendendo 24h/7,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total conformidade com a Res. TSE 23.755/2026.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50992" y="384048"/>
            <a:ext cx="3154680" cy="868680"/>
          </a:xfrm>
          <a:prstGeom prst="roundRect">
            <a:avLst>
              <a:gd name="adj" fmla="val 8421"/>
            </a:avLst>
          </a:prstGeom>
          <a:solidFill>
            <a:srgbClr val="162236"/>
          </a:solidFill>
          <a:ln/>
          <a:effectLst>
            <a:outerShdw blurRad="1270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5815584" y="658368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217920" y="475488"/>
            <a:ext cx="2496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7.924 votos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17920" y="859536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2ª maior votação em JF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50992" y="1408176"/>
            <a:ext cx="3154680" cy="868680"/>
          </a:xfrm>
          <a:prstGeom prst="roundRect">
            <a:avLst>
              <a:gd name="adj" fmla="val 8421"/>
            </a:avLst>
          </a:prstGeom>
          <a:solidFill>
            <a:srgbClr val="162236"/>
          </a:solidFill>
          <a:ln/>
          <a:effectLst>
            <a:outerShdw blurRad="1270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5815584" y="1682496"/>
            <a:ext cx="292608" cy="29260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217920" y="1499616"/>
            <a:ext cx="2496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votada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0" y="1883664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Única mulher conservadora do pleito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650992" y="2432304"/>
            <a:ext cx="3154680" cy="868680"/>
          </a:xfrm>
          <a:prstGeom prst="roundRect">
            <a:avLst>
              <a:gd name="adj" fmla="val 8421"/>
            </a:avLst>
          </a:prstGeom>
          <a:solidFill>
            <a:srgbClr val="162236"/>
          </a:solidFill>
          <a:ln/>
          <a:effectLst>
            <a:outerShdw blurRad="1270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5815584" y="2706624"/>
            <a:ext cx="292608" cy="29260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6217920" y="2523744"/>
            <a:ext cx="2496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Nikolas Ferreira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17920" y="2907792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Padrinho e mentor – PL/MG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650992" y="3456432"/>
            <a:ext cx="3154680" cy="868680"/>
          </a:xfrm>
          <a:prstGeom prst="roundRect">
            <a:avLst>
              <a:gd name="adj" fmla="val 8421"/>
            </a:avLst>
          </a:prstGeom>
          <a:solidFill>
            <a:srgbClr val="162236"/>
          </a:solidFill>
          <a:ln/>
          <a:effectLst>
            <a:outerShdw blurRad="1270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5815584" y="3730752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6217920" y="3547872"/>
            <a:ext cx="2496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Dep. Estadual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17920" y="3931920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Pré-candidatura 2026 lançada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" y="45902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confidencial  ·  Reunião estratégica  ·  Junho 2026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4747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Roberta,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046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sabe quantos eleitores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tentaram falar com a sua campanha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nesta semana?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2651760"/>
            <a:ext cx="2743200" cy="2148840"/>
          </a:xfrm>
          <a:prstGeom prst="roundRect">
            <a:avLst>
              <a:gd name="adj" fmla="val 4255"/>
            </a:avLst>
          </a:prstGeom>
          <a:solidFill>
            <a:srgbClr val="162236"/>
          </a:solidFill>
          <a:ln/>
          <a:effectLst>
            <a:outerShdw blurRad="1270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411480" y="2651760"/>
            <a:ext cx="2743200" cy="137160"/>
          </a:xfrm>
          <a:prstGeom prst="roundRect">
            <a:avLst>
              <a:gd name="adj" fmla="val 33333"/>
            </a:avLst>
          </a:prstGeom>
          <a:solidFill>
            <a:srgbClr val="C5303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02920" y="2852928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300+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02920" y="3657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mensagens/dia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" y="4023360"/>
            <a:ext cx="2194560" cy="18288"/>
          </a:xfrm>
          <a:prstGeom prst="rect">
            <a:avLst/>
          </a:prstGeom>
          <a:solidFill>
            <a:srgbClr val="2A3D5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48640" y="411480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WhatsApp no pico da campanha — impossivel responder manualmente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37560" y="2651760"/>
            <a:ext cx="2743200" cy="2148840"/>
          </a:xfrm>
          <a:prstGeom prst="roundRect">
            <a:avLst>
              <a:gd name="adj" fmla="val 4255"/>
            </a:avLst>
          </a:prstGeom>
          <a:solidFill>
            <a:srgbClr val="162236"/>
          </a:solidFill>
          <a:ln/>
          <a:effectLst>
            <a:outerShdw blurRad="1270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3337560" y="2651760"/>
            <a:ext cx="2743200" cy="137160"/>
          </a:xfrm>
          <a:prstGeom prst="roundRect">
            <a:avLst>
              <a:gd name="adj" fmla="val 33333"/>
            </a:avLst>
          </a:prstGeom>
          <a:solidFill>
            <a:srgbClr val="C9A22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3429000" y="2852928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3429000" y="3657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resposta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11880" y="4023360"/>
            <a:ext cx="2194560" cy="18288"/>
          </a:xfrm>
          <a:prstGeom prst="rect">
            <a:avLst/>
          </a:prstGeom>
          <a:solidFill>
            <a:srgbClr val="2A3D5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3474720" y="411480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eleitores ignorados perdem engajamento em menos de 24h e vão para outro candidato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63640" y="2651760"/>
            <a:ext cx="2743200" cy="2148840"/>
          </a:xfrm>
          <a:prstGeom prst="roundRect">
            <a:avLst>
              <a:gd name="adj" fmla="val 4255"/>
            </a:avLst>
          </a:prstGeom>
          <a:solidFill>
            <a:srgbClr val="162236"/>
          </a:solidFill>
          <a:ln/>
          <a:effectLst>
            <a:outerShdw blurRad="1270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6263640" y="2651760"/>
            <a:ext cx="2743200" cy="137160"/>
          </a:xfrm>
          <a:prstGeom prst="roundRect">
            <a:avLst>
              <a:gd name="adj" fmla="val 33333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6355080" y="2852928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6355080" y="3657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respostas às 2h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537960" y="4023360"/>
            <a:ext cx="2194560" cy="18288"/>
          </a:xfrm>
          <a:prstGeom prst="rect">
            <a:avLst/>
          </a:prstGeom>
          <a:solidFill>
            <a:srgbClr val="2A3D5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6400800" y="411480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 eleitor mais engajado pergunta quando ninguem da equipe está acordado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solução: SyncroFlow Eleitoral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configurada com as suas propostas, respondendo eleitores 24/7, de forma totalmente legal.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47472" y="1188720"/>
            <a:ext cx="2651760" cy="36576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blurRad="1270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347472" y="1188720"/>
            <a:ext cx="2651760" cy="164592"/>
          </a:xfrm>
          <a:prstGeom prst="roundRect">
            <a:avLst>
              <a:gd name="adj" fmla="val 33333"/>
            </a:avLst>
          </a:prstGeom>
          <a:solidFill>
            <a:srgbClr val="1A56D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1325880" y="1463040"/>
            <a:ext cx="694944" cy="694944"/>
          </a:xfrm>
          <a:prstGeom prst="ellipse">
            <a:avLst/>
          </a:prstGeom>
          <a:solidFill>
            <a:srgbClr val="1A56D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1325880" y="146304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4632" y="226771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de IA 24/7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13232" y="2724912"/>
            <a:ext cx="1920240" cy="2743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12064" y="2852928"/>
            <a:ext cx="232257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eleitores a qualquer hora — WhatsApp, site da campanha, Instagram DM. Configurado com as suas propostas, agenda e tom de voz. Zero contratação extra.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182112" y="1188720"/>
            <a:ext cx="2651760" cy="36576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blurRad="1270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3182112" y="1188720"/>
            <a:ext cx="2651760" cy="164592"/>
          </a:xfrm>
          <a:prstGeom prst="roundRect">
            <a:avLst>
              <a:gd name="adj" fmla="val 33333"/>
            </a:avLst>
          </a:prstGeom>
          <a:solidFill>
            <a:srgbClr val="0E74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4160520" y="1463040"/>
            <a:ext cx="694944" cy="694944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4160520" y="146304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19272" y="226771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de Inteligência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547872" y="2724912"/>
            <a:ext cx="1920240" cy="2743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3346704" y="2852928"/>
            <a:ext cx="232257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em tempo real: temas mais perguntados, sentimento dos eleitores, mapa de pedidos por bairro. Relatório semanal automático toda segunda-feira.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16752" y="1188720"/>
            <a:ext cx="2651760" cy="36576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blurRad="1270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6016752" y="1188720"/>
            <a:ext cx="2651760" cy="164592"/>
          </a:xfrm>
          <a:prstGeom prst="roundRect">
            <a:avLst>
              <a:gd name="adj" fmla="val 33333"/>
            </a:avLst>
          </a:prstGeom>
          <a:solidFill>
            <a:srgbClr val="16A3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6995160" y="1463040"/>
            <a:ext cx="694944" cy="694944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6995160" y="146304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153912" y="226771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TSE-Compliance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382512" y="2724912"/>
            <a:ext cx="1920240" cy="2743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6181344" y="2852928"/>
            <a:ext cx="232257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Identifica-se como assistente virtual desde a 1a mensagem. Sem deepfake. Desativação automática nas 72h antes do pleito. Conforme Res. TSE 23.755/2026.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02920" y="18288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vale contratar o SyncroFlow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47472" y="804672"/>
            <a:ext cx="4041648" cy="4069080"/>
          </a:xfrm>
          <a:prstGeom prst="roundRect">
            <a:avLst>
              <a:gd name="adj" fmla="val 2262"/>
            </a:avLst>
          </a:prstGeom>
          <a:solidFill>
            <a:srgbClr val="1A0A0A"/>
          </a:solidFill>
          <a:ln/>
          <a:effectLst>
            <a:outerShdw blurRad="1270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347472" y="804672"/>
            <a:ext cx="4041648" cy="457200"/>
          </a:xfrm>
          <a:prstGeom prst="roundRect">
            <a:avLst>
              <a:gd name="adj" fmla="val 16000"/>
            </a:avLst>
          </a:prstGeom>
          <a:solidFill>
            <a:srgbClr val="C5303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457200" y="80467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SYNCROFLOW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" y="1389888"/>
            <a:ext cx="3785616" cy="402336"/>
          </a:xfrm>
          <a:prstGeom prst="roundRect">
            <a:avLst>
              <a:gd name="adj" fmla="val 13636"/>
            </a:avLst>
          </a:prstGeom>
          <a:solidFill>
            <a:srgbClr val="2D0D0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66928" y="1426464"/>
            <a:ext cx="3602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2 atendentes humanos: custo de R$5.000+/mês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" y="1874520"/>
            <a:ext cx="3785616" cy="402336"/>
          </a:xfrm>
          <a:prstGeom prst="roundRect">
            <a:avLst>
              <a:gd name="adj" fmla="val 13636"/>
            </a:avLst>
          </a:prstGeom>
          <a:solidFill>
            <a:srgbClr val="2D0D0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66928" y="1911096"/>
            <a:ext cx="3602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Atendimento limitado a horario comercial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" y="2359152"/>
            <a:ext cx="3785616" cy="402336"/>
          </a:xfrm>
          <a:prstGeom prst="roundRect">
            <a:avLst>
              <a:gd name="adj" fmla="val 13636"/>
            </a:avLst>
          </a:prstGeom>
          <a:solidFill>
            <a:srgbClr val="2D0D0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66928" y="2395728"/>
            <a:ext cx="3602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Ninguem responde as 2h da manha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" y="2843784"/>
            <a:ext cx="3785616" cy="402336"/>
          </a:xfrm>
          <a:prstGeom prst="roundRect">
            <a:avLst>
              <a:gd name="adj" fmla="val 13636"/>
            </a:avLst>
          </a:prstGeom>
          <a:solidFill>
            <a:srgbClr val="2D0D0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66928" y="2880360"/>
            <a:ext cx="3602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Sem dados sobre o que o eleitorado pergunta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" y="3328416"/>
            <a:ext cx="3785616" cy="402336"/>
          </a:xfrm>
          <a:prstGeom prst="roundRect">
            <a:avLst>
              <a:gd name="adj" fmla="val 13636"/>
            </a:avLst>
          </a:prstGeom>
          <a:solidFill>
            <a:srgbClr val="2D0D0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566928" y="3364992"/>
            <a:ext cx="3602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Respostas inconsistentes com o programa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" y="3813048"/>
            <a:ext cx="3785616" cy="402336"/>
          </a:xfrm>
          <a:prstGeom prst="roundRect">
            <a:avLst>
              <a:gd name="adj" fmla="val 13636"/>
            </a:avLst>
          </a:prstGeom>
          <a:solidFill>
            <a:srgbClr val="2D0D0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566928" y="3849624"/>
            <a:ext cx="3602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Mensagens perdidas no pico da campanha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804672"/>
            <a:ext cx="4041648" cy="4069080"/>
          </a:xfrm>
          <a:prstGeom prst="roundRect">
            <a:avLst>
              <a:gd name="adj" fmla="val 2262"/>
            </a:avLst>
          </a:prstGeom>
          <a:solidFill>
            <a:srgbClr val="0A1D0A"/>
          </a:solidFill>
          <a:ln/>
          <a:effectLst>
            <a:outerShdw blurRad="1270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4754880" y="804672"/>
            <a:ext cx="4041648" cy="457200"/>
          </a:xfrm>
          <a:prstGeom prst="roundRect">
            <a:avLst>
              <a:gd name="adj" fmla="val 16000"/>
            </a:avLst>
          </a:prstGeom>
          <a:solidFill>
            <a:srgbClr val="1580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4864608" y="80467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SYNCROFLOW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82896" y="1389888"/>
            <a:ext cx="3785616" cy="402336"/>
          </a:xfrm>
          <a:prstGeom prst="roundRect">
            <a:avLst>
              <a:gd name="adj" fmla="val 13636"/>
            </a:avLst>
          </a:prstGeom>
          <a:solidFill>
            <a:srgbClr val="0D2B0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4974336" y="1426464"/>
            <a:ext cx="3602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BF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 Custo significativamente menor que atendentes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82896" y="1874520"/>
            <a:ext cx="3785616" cy="402336"/>
          </a:xfrm>
          <a:prstGeom prst="roundRect">
            <a:avLst>
              <a:gd name="adj" fmla="val 13636"/>
            </a:avLst>
          </a:prstGeom>
          <a:solidFill>
            <a:srgbClr val="0D2B0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4974336" y="1911096"/>
            <a:ext cx="3602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BF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 Atendimento 24h/7 — inclusive finais de semana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82896" y="2359152"/>
            <a:ext cx="3785616" cy="402336"/>
          </a:xfrm>
          <a:prstGeom prst="roundRect">
            <a:avLst>
              <a:gd name="adj" fmla="val 13636"/>
            </a:avLst>
          </a:prstGeom>
          <a:solidFill>
            <a:srgbClr val="0D2B0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4974336" y="2395728"/>
            <a:ext cx="3602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BF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 Nenhuma mensagem sem resposta, nunca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82896" y="2843784"/>
            <a:ext cx="3785616" cy="402336"/>
          </a:xfrm>
          <a:prstGeom prst="roundRect">
            <a:avLst>
              <a:gd name="adj" fmla="val 13636"/>
            </a:avLst>
          </a:prstGeom>
          <a:solidFill>
            <a:srgbClr val="0D2B0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4974336" y="2880360"/>
            <a:ext cx="3602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BF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 Painel semanal com temas, pedidos por bairro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82896" y="3328416"/>
            <a:ext cx="3785616" cy="402336"/>
          </a:xfrm>
          <a:prstGeom prst="roundRect">
            <a:avLst>
              <a:gd name="adj" fmla="val 13636"/>
            </a:avLst>
          </a:prstGeom>
          <a:solidFill>
            <a:srgbClr val="0D2B0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4974336" y="3364992"/>
            <a:ext cx="3602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BF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 Respostas sempre alinhadas ao seu programa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82896" y="3813048"/>
            <a:ext cx="3785616" cy="402336"/>
          </a:xfrm>
          <a:prstGeom prst="roundRect">
            <a:avLst>
              <a:gd name="adj" fmla="val 13636"/>
            </a:avLst>
          </a:prstGeom>
          <a:solidFill>
            <a:srgbClr val="0D2B0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4974336" y="3849624"/>
            <a:ext cx="3602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BF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 Volume ilimitado, mesmo no pico eleitoral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251960" y="2606040"/>
            <a:ext cx="640080" cy="64008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4251960" y="2606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timing não poderia ser melhor.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7863840" cy="54864"/>
          </a:xfrm>
          <a:prstGeom prst="rect">
            <a:avLst/>
          </a:prstGeom>
          <a:solidFill>
            <a:srgbClr val="1C2F4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658368" y="1298448"/>
            <a:ext cx="329184" cy="329184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274320" y="17099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Jun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2880" y="200253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reunião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87168" y="1298448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2103120" y="17099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Ago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011680" y="200253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Propaganda abre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407408" y="1298448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023360" y="17099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Ago/Set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931920" y="200253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 de contatos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327648" y="1298448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5943600" y="17099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Out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852160" y="200253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1º Turno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065008" y="1298448"/>
            <a:ext cx="329184" cy="329184"/>
          </a:xfrm>
          <a:prstGeom prst="ellipse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7680960" y="17099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Nov+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589520" y="200253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84048" y="2304288"/>
            <a:ext cx="8375904" cy="2487168"/>
          </a:xfrm>
          <a:prstGeom prst="roundRect">
            <a:avLst>
              <a:gd name="adj" fmla="val 3676"/>
            </a:avLst>
          </a:prstGeom>
          <a:solidFill>
            <a:srgbClr val="162236"/>
          </a:solidFill>
          <a:ln/>
          <a:effectLst>
            <a:outerShdw blurRad="1270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594360" y="242316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C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Ontem (22/06), o Dep. Nikolas Ferreira consolidou publicamente o apoio a sua candidatura.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" y="2926080"/>
            <a:ext cx="2450592" cy="1719072"/>
          </a:xfrm>
          <a:prstGeom prst="roundRect">
            <a:avLst>
              <a:gd name="adj" fmla="val 4255"/>
            </a:avLst>
          </a:prstGeom>
          <a:solidFill>
            <a:srgbClr val="1C2F45"/>
          </a:solidFill>
          <a:ln/>
          <a:effectLst>
            <a:outerShdw blurRad="1270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731520" y="3035808"/>
            <a:ext cx="2267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731520" y="3703320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77240" y="4023360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 o inicio da campanha oficial (16/08)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337560" y="2926080"/>
            <a:ext cx="2450592" cy="1719072"/>
          </a:xfrm>
          <a:prstGeom prst="roundRect">
            <a:avLst>
              <a:gd name="adj" fmla="val 4255"/>
            </a:avLst>
          </a:prstGeom>
          <a:solidFill>
            <a:srgbClr val="1C2F45"/>
          </a:solidFill>
          <a:ln/>
          <a:effectLst>
            <a:outerShdw blurRad="1270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3429000" y="3035808"/>
            <a:ext cx="2267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24h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3429000" y="3703320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setup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474720" y="4023360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agente fica pronto em 48h apos o briefing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035040" y="2926080"/>
            <a:ext cx="2450592" cy="1719072"/>
          </a:xfrm>
          <a:prstGeom prst="roundRect">
            <a:avLst>
              <a:gd name="adj" fmla="val 4255"/>
            </a:avLst>
          </a:prstGeom>
          <a:solidFill>
            <a:srgbClr val="1C2F45"/>
          </a:solidFill>
          <a:ln/>
          <a:effectLst>
            <a:outerShdw blurRad="1270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6126480" y="3035808"/>
            <a:ext cx="2267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1a</a:t>
            </a:r>
            <a:endParaRPr lang="en-US" sz="3600" dirty="0"/>
          </a:p>
        </p:txBody>
      </p:sp>
      <p:sp>
        <p:nvSpPr>
          <p:cNvPr id="32" name="Text 30"/>
          <p:cNvSpPr/>
          <p:nvPr/>
        </p:nvSpPr>
        <p:spPr>
          <a:xfrm>
            <a:off x="6126480" y="3703320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rede PL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172200" y="4023360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 pode ser referencia da rede Nikolas em MG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 na prática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primeiro contato ao relatório semanal — tudo automático.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47472" y="1188720"/>
            <a:ext cx="2651760" cy="3611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blurRad="1270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1289304" y="1389888"/>
            <a:ext cx="768096" cy="768096"/>
          </a:xfrm>
          <a:prstGeom prst="ellipse">
            <a:avLst/>
          </a:prstGeom>
          <a:solidFill>
            <a:srgbClr val="1A56D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289304" y="1389888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84632" y="22860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Briefing Eleitoral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minutos — feito uma vez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13232" y="2999232"/>
            <a:ext cx="1920240" cy="2743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12064" y="3108960"/>
            <a:ext cx="232257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 equipe preenche um formulario guiado com propostas por tema, tom de voz, agenda e restricoes de comunicacao. E o unico esforco manual. Depois, o SyncroFlow faz o resto.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30352" y="4480560"/>
            <a:ext cx="2286000" cy="228600"/>
          </a:xfrm>
          <a:prstGeom prst="roundRect">
            <a:avLst>
              <a:gd name="adj" fmla="val 20000"/>
            </a:avLst>
          </a:prstGeom>
          <a:solidFill>
            <a:srgbClr val="1A56D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30352" y="44805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estimado: 45 minutos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182112" y="1188720"/>
            <a:ext cx="2651760" cy="3611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blurRad="1270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4123944" y="1389888"/>
            <a:ext cx="768096" cy="768096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4123944" y="1389888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319272" y="22860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Ativação em 48h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19272" y="26700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trabalho da campanha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547872" y="2999232"/>
            <a:ext cx="1920240" cy="2743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3346704" y="3108960"/>
            <a:ext cx="232257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SyncroFlow configura o agente com a base de conhecimento da campanha, faz testes internos e entrega pronto com manual de uso. A campanha nao precisa fazer nada alem do briefing.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364992" y="4480560"/>
            <a:ext cx="2286000" cy="228600"/>
          </a:xfrm>
          <a:prstGeom prst="roundRect">
            <a:avLst>
              <a:gd name="adj" fmla="val 20000"/>
            </a:avLst>
          </a:prstGeom>
          <a:solidFill>
            <a:srgbClr val="0E74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3364992" y="44805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Prazo: 48 horas apos o briefing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016752" y="1188720"/>
            <a:ext cx="2651760" cy="3611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blurRad="1270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6958584" y="1389888"/>
            <a:ext cx="768096" cy="768096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6958584" y="1389888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153912" y="22860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em Operação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153912" y="26700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24h/7 — enquanto voce dorme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382512" y="2999232"/>
            <a:ext cx="1920240" cy="2743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6181344" y="3108960"/>
            <a:ext cx="232257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Eleitor chega via WhatsApp ou site da campanha. O agente responde 24/7, registra pedidos, encaminha casos complexos e gera dados para o relatorio semanal automatico.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199632" y="4480560"/>
            <a:ext cx="2286000" cy="228600"/>
          </a:xfrm>
          <a:prstGeom prst="roundRect">
            <a:avLst>
              <a:gd name="adj" fmla="val 20000"/>
            </a:avLst>
          </a:prstGeom>
          <a:solidFill>
            <a:srgbClr val="16A3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6199632" y="44805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Relatorio toda segunda-feira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eleitor experimenta na prática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822960"/>
            <a:ext cx="5120640" cy="4023360"/>
          </a:xfrm>
          <a:prstGeom prst="roundRect">
            <a:avLst>
              <a:gd name="adj" fmla="val 2727"/>
            </a:avLst>
          </a:prstGeom>
          <a:solidFill>
            <a:srgbClr val="EFF3FA"/>
          </a:solidFill>
          <a:ln/>
          <a:effectLst>
            <a:outerShdw blurRad="1270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411480" y="822960"/>
            <a:ext cx="5120640" cy="475488"/>
          </a:xfrm>
          <a:prstGeom prst="roundRect">
            <a:avLst>
              <a:gd name="adj" fmla="val 13462"/>
            </a:avLst>
          </a:prstGeom>
          <a:solidFill>
            <a:srgbClr val="1A56D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548640" y="841248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Campanha Roberta Lopes – Assistente Virtual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94360" y="1435608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blurRad="1270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704088" y="1472184"/>
            <a:ext cx="3895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Eleitor 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Olá! Qual a proposta da Roberta para segurança pública em JF?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94360" y="2011680"/>
            <a:ext cx="4480560" cy="804672"/>
          </a:xfrm>
          <a:prstGeom prst="roundRect">
            <a:avLst>
              <a:gd name="adj" fmla="val 9091"/>
            </a:avLst>
          </a:prstGeom>
          <a:solidFill>
            <a:srgbClr val="1A56DB"/>
          </a:solidFill>
          <a:ln/>
          <a:effectLst>
            <a:outerShdw blurRad="1270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04088" y="2048256"/>
            <a:ext cx="42611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0C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Assistente SyncroFlow 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 o assistente virtual da campanha de Roberta Lopes (Dep. Estadual · PL). Sobre segurança: valorizacao de PM e Bombeiros; cameras nos bairros de risco; reforço de efetivo estadual em JF. Posso registrar uma sugestao ou mostrar a agenda.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94360" y="2944368"/>
            <a:ext cx="38404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blurRad="1270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704088" y="2980944"/>
            <a:ext cx="3621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Eleitor 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Quero deixar uma sugestao sobre o Bairro Ipiranga.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94360" y="3529584"/>
            <a:ext cx="4206240" cy="457200"/>
          </a:xfrm>
          <a:prstGeom prst="roundRect">
            <a:avLst>
              <a:gd name="adj" fmla="val 16000"/>
            </a:avLst>
          </a:prstGeom>
          <a:solidFill>
            <a:srgbClr val="1A56DB"/>
          </a:solidFill>
          <a:ln/>
          <a:effectLst>
            <a:outerShdw blurRad="1270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704088" y="3566160"/>
            <a:ext cx="3986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0C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Assistente SyncroFlow 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Claro! Registro aqui e chega direto a equipe. Pedido do Ipiranga registrado. [OK]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742432" y="822960"/>
            <a:ext cx="2990088" cy="4023360"/>
          </a:xfrm>
          <a:prstGeom prst="roundRect">
            <a:avLst>
              <a:gd name="adj" fmla="val 3670"/>
            </a:avLst>
          </a:prstGeom>
          <a:solidFill>
            <a:srgbClr val="0D1B2A"/>
          </a:solidFill>
          <a:ln/>
          <a:effectLst>
            <a:outerShdw blurRad="1270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5897880" y="98755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trás da tela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870448" y="1508760"/>
            <a:ext cx="2724912" cy="457200"/>
          </a:xfrm>
          <a:prstGeom prst="roundRect">
            <a:avLst>
              <a:gd name="adj" fmla="val 14000"/>
            </a:avLst>
          </a:prstGeom>
          <a:solidFill>
            <a:srgbClr val="16223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5998464" y="1636776"/>
            <a:ext cx="219456" cy="219456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6309360" y="1563624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 do Ipiranga registrado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870448" y="2075688"/>
            <a:ext cx="2724912" cy="457200"/>
          </a:xfrm>
          <a:prstGeom prst="roundRect">
            <a:avLst>
              <a:gd name="adj" fmla="val 14000"/>
            </a:avLst>
          </a:prstGeom>
          <a:solidFill>
            <a:srgbClr val="16223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5998464" y="2203704"/>
            <a:ext cx="219456" cy="219456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6309360" y="2130552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Sentimento do eleitor classificado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870448" y="2642616"/>
            <a:ext cx="2724912" cy="457200"/>
          </a:xfrm>
          <a:prstGeom prst="roundRect">
            <a:avLst>
              <a:gd name="adj" fmla="val 14000"/>
            </a:avLst>
          </a:prstGeom>
          <a:solidFill>
            <a:srgbClr val="16223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5998464" y="2770632"/>
            <a:ext cx="219456" cy="219456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6309360" y="2697480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notificada automaticamente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870448" y="3209544"/>
            <a:ext cx="2724912" cy="457200"/>
          </a:xfrm>
          <a:prstGeom prst="roundRect">
            <a:avLst>
              <a:gd name="adj" fmla="val 14000"/>
            </a:avLst>
          </a:prstGeom>
          <a:solidFill>
            <a:srgbClr val="16223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5998464" y="3337560"/>
            <a:ext cx="219456" cy="219456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6309360" y="3264408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Relatorio semanal atualizado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870448" y="3776472"/>
            <a:ext cx="2724912" cy="457200"/>
          </a:xfrm>
          <a:prstGeom prst="roundRect">
            <a:avLst>
              <a:gd name="adj" fmla="val 14000"/>
            </a:avLst>
          </a:prstGeom>
          <a:solidFill>
            <a:srgbClr val="16223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Shape 27"/>
          <p:cNvSpPr/>
          <p:nvPr/>
        </p:nvSpPr>
        <p:spPr>
          <a:xfrm>
            <a:off x="5998464" y="3904488"/>
            <a:ext cx="219456" cy="219456"/>
          </a:xfrm>
          <a:prstGeom prst="ellipse">
            <a:avLst/>
          </a:prstGeom>
          <a:solidFill>
            <a:srgbClr val="C5303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6309360" y="3831336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chance de cair no esquecimento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sua campanha passa a saber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da semana · Campanha Roberta Lopes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47472" y="1024128"/>
            <a:ext cx="1920240" cy="1417320"/>
          </a:xfrm>
          <a:prstGeom prst="roundRect">
            <a:avLst>
              <a:gd name="adj" fmla="val 6452"/>
            </a:avLst>
          </a:prstGeom>
          <a:solidFill>
            <a:srgbClr val="162236"/>
          </a:solidFill>
          <a:ln/>
          <a:effectLst>
            <a:outerShdw blurRad="1270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393192" y="1115568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847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393192" y="18288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semana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78024" y="1024128"/>
            <a:ext cx="1920240" cy="1417320"/>
          </a:xfrm>
          <a:prstGeom prst="roundRect">
            <a:avLst>
              <a:gd name="adj" fmla="val 6452"/>
            </a:avLst>
          </a:prstGeom>
          <a:solidFill>
            <a:srgbClr val="162236"/>
          </a:solidFill>
          <a:ln/>
          <a:effectLst>
            <a:outerShdw blurRad="1270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2523744" y="1115568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2523744" y="18288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08576" y="1024128"/>
            <a:ext cx="1920240" cy="1417320"/>
          </a:xfrm>
          <a:prstGeom prst="roundRect">
            <a:avLst>
              <a:gd name="adj" fmla="val 6452"/>
            </a:avLst>
          </a:prstGeom>
          <a:solidFill>
            <a:srgbClr val="162236"/>
          </a:solidFill>
          <a:ln/>
          <a:effectLst>
            <a:outerShdw blurRad="1270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654296" y="1115568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312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4654296" y="18288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registrados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739128" y="1024128"/>
            <a:ext cx="1920240" cy="1417320"/>
          </a:xfrm>
          <a:prstGeom prst="roundRect">
            <a:avLst>
              <a:gd name="adj" fmla="val 6452"/>
            </a:avLst>
          </a:prstGeom>
          <a:solidFill>
            <a:srgbClr val="162236"/>
          </a:solidFill>
          <a:ln/>
          <a:effectLst>
            <a:outerShdw blurRad="1270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6784848" y="1115568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min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784848" y="18288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médio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resposta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47472" y="2606040"/>
            <a:ext cx="5349240" cy="2240280"/>
          </a:xfrm>
          <a:prstGeom prst="roundRect">
            <a:avLst>
              <a:gd name="adj" fmla="val 4082"/>
            </a:avLst>
          </a:prstGeom>
          <a:solidFill>
            <a:srgbClr val="162236"/>
          </a:solidFill>
          <a:ln/>
          <a:effectLst>
            <a:outerShdw blurRad="1270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530352" y="271576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temas mais perguntados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0352" y="31546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pública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240280" y="3191256"/>
            <a:ext cx="3840480" cy="201168"/>
          </a:xfrm>
          <a:prstGeom prst="roundRect">
            <a:avLst>
              <a:gd name="adj" fmla="val 18182"/>
            </a:avLst>
          </a:prstGeom>
          <a:solidFill>
            <a:srgbClr val="0D1B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2240280" y="3191256"/>
            <a:ext cx="1305763" cy="201168"/>
          </a:xfrm>
          <a:prstGeom prst="roundRect">
            <a:avLst>
              <a:gd name="adj" fmla="val 18182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3619195" y="31546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34%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30352" y="34747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Saúde e UBS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240280" y="3511296"/>
            <a:ext cx="3840480" cy="201168"/>
          </a:xfrm>
          <a:prstGeom prst="roundRect">
            <a:avLst>
              <a:gd name="adj" fmla="val 18182"/>
            </a:avLst>
          </a:prstGeom>
          <a:solidFill>
            <a:srgbClr val="0D1B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2240280" y="3511296"/>
            <a:ext cx="1036930" cy="201168"/>
          </a:xfrm>
          <a:prstGeom prst="roundRect">
            <a:avLst>
              <a:gd name="adj" fmla="val 18182"/>
            </a:avLst>
          </a:prstGeom>
          <a:solidFill>
            <a:srgbClr val="0E74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3350362" y="34747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27%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30352" y="37947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Educação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240280" y="3831336"/>
            <a:ext cx="3840480" cy="201168"/>
          </a:xfrm>
          <a:prstGeom prst="roundRect">
            <a:avLst>
              <a:gd name="adj" fmla="val 18182"/>
            </a:avLst>
          </a:prstGeom>
          <a:solidFill>
            <a:srgbClr val="0D1B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Shape 27"/>
          <p:cNvSpPr/>
          <p:nvPr/>
        </p:nvSpPr>
        <p:spPr>
          <a:xfrm>
            <a:off x="2240280" y="3831336"/>
            <a:ext cx="691286" cy="201168"/>
          </a:xfrm>
          <a:prstGeom prst="roundRect">
            <a:avLst>
              <a:gd name="adj" fmla="val 18182"/>
            </a:avLst>
          </a:prstGeom>
          <a:solidFill>
            <a:srgbClr val="16A3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3004718" y="37947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30352" y="41148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Infraestrutura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240280" y="4151376"/>
            <a:ext cx="3840480" cy="201168"/>
          </a:xfrm>
          <a:prstGeom prst="roundRect">
            <a:avLst>
              <a:gd name="adj" fmla="val 18182"/>
            </a:avLst>
          </a:prstGeom>
          <a:solidFill>
            <a:srgbClr val="0D1B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Shape 31"/>
          <p:cNvSpPr/>
          <p:nvPr/>
        </p:nvSpPr>
        <p:spPr>
          <a:xfrm>
            <a:off x="2240280" y="4151376"/>
            <a:ext cx="499262" cy="201168"/>
          </a:xfrm>
          <a:prstGeom prst="roundRect">
            <a:avLst>
              <a:gd name="adj" fmla="val 18182"/>
            </a:avLst>
          </a:prstGeom>
          <a:solidFill>
            <a:srgbClr val="C9A22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/>
          <p:nvPr/>
        </p:nvSpPr>
        <p:spPr>
          <a:xfrm>
            <a:off x="2812694" y="4114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13%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30352" y="44348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Outros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240280" y="4471416"/>
            <a:ext cx="3840480" cy="201168"/>
          </a:xfrm>
          <a:prstGeom prst="roundRect">
            <a:avLst>
              <a:gd name="adj" fmla="val 18182"/>
            </a:avLst>
          </a:prstGeom>
          <a:solidFill>
            <a:srgbClr val="0D1B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7" name="Shape 35"/>
          <p:cNvSpPr/>
          <p:nvPr/>
        </p:nvSpPr>
        <p:spPr>
          <a:xfrm>
            <a:off x="2240280" y="4471416"/>
            <a:ext cx="307238" cy="201168"/>
          </a:xfrm>
          <a:prstGeom prst="roundRect">
            <a:avLst>
              <a:gd name="adj" fmla="val 18182"/>
            </a:avLst>
          </a:prstGeom>
          <a:solidFill>
            <a:srgbClr val="A78B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8" name="Text 36"/>
          <p:cNvSpPr/>
          <p:nvPr/>
        </p:nvSpPr>
        <p:spPr>
          <a:xfrm>
            <a:off x="2620670" y="44348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870448" y="2606040"/>
            <a:ext cx="2907792" cy="2240280"/>
          </a:xfrm>
          <a:prstGeom prst="roundRect">
            <a:avLst>
              <a:gd name="adj" fmla="val 4082"/>
            </a:avLst>
          </a:prstGeom>
          <a:solidFill>
            <a:srgbClr val="162236"/>
          </a:solidFill>
          <a:ln/>
          <a:effectLst>
            <a:outerShdw blurRad="1270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0" name="Text 38"/>
          <p:cNvSpPr/>
          <p:nvPr/>
        </p:nvSpPr>
        <p:spPr>
          <a:xfrm>
            <a:off x="6035040" y="2743200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da semana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035040" y="3154680"/>
            <a:ext cx="2606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312 pedidos de infraestrutura no Bairro Santa Terezinha acumulados.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 de visita de campo com alta repercussao midiatica.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Além da campanha: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mandato começa com dados.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4048" y="1234440"/>
            <a:ext cx="8375904" cy="960120"/>
          </a:xfrm>
          <a:prstGeom prst="roundRect">
            <a:avLst>
              <a:gd name="adj" fmla="val 9524"/>
            </a:avLst>
          </a:prstGeom>
          <a:solidFill>
            <a:srgbClr val="162236"/>
          </a:solidFill>
          <a:ln/>
          <a:effectLst>
            <a:outerShdw blurRad="1270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566928" y="1298448"/>
            <a:ext cx="80101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Candidatos eleitos que usam o SyncroFlow chegam ao mandato com uma base unica: saber exatamente o que a populacao pediu durante os meses de campanha, por bairro e categoria. O mesmo agente se reconverte em ferramenta de atendimento ao cidadao.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7472" y="2331720"/>
            <a:ext cx="2651760" cy="2487168"/>
          </a:xfrm>
          <a:prstGeom prst="roundRect">
            <a:avLst>
              <a:gd name="adj" fmla="val 3676"/>
            </a:avLst>
          </a:prstGeom>
          <a:solidFill>
            <a:srgbClr val="162236"/>
          </a:solidFill>
          <a:ln/>
          <a:effectLst>
            <a:outerShdw blurRad="1270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1380744" y="2514600"/>
            <a:ext cx="585216" cy="585216"/>
          </a:xfrm>
          <a:prstGeom prst="ellipse">
            <a:avLst/>
          </a:prstGeom>
          <a:solidFill>
            <a:srgbClr val="1A56D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1380744" y="25146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227832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Ouvidoria Inteligente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67512" y="3639312"/>
            <a:ext cx="2011680" cy="27432"/>
          </a:xfrm>
          <a:prstGeom prst="rect">
            <a:avLst/>
          </a:prstGeom>
          <a:solidFill>
            <a:srgbClr val="1C2F4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84632" y="374904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agente de campanha se reconverte em ouvidoria do mandato — registra pedidos dos cidadaos, categoriza por tema e encaminha para a equipe.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182112" y="2331720"/>
            <a:ext cx="2651760" cy="2487168"/>
          </a:xfrm>
          <a:prstGeom prst="roundRect">
            <a:avLst>
              <a:gd name="adj" fmla="val 3676"/>
            </a:avLst>
          </a:prstGeom>
          <a:solidFill>
            <a:srgbClr val="162236"/>
          </a:solidFill>
          <a:ln/>
          <a:effectLst>
            <a:outerShdw blurRad="1270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4215384" y="2514600"/>
            <a:ext cx="585216" cy="585216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4215384" y="25146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91840" y="3227832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Demandas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502152" y="3639312"/>
            <a:ext cx="2011680" cy="27432"/>
          </a:xfrm>
          <a:prstGeom prst="rect">
            <a:avLst/>
          </a:prstGeom>
          <a:solidFill>
            <a:srgbClr val="1C2F4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3319272" y="374904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acumulados durante a campanha revelam, por bairro e categoria, as principais necessidades da base eleitoral. Insumo direto para as prioridades do mandato.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16752" y="2331720"/>
            <a:ext cx="2651760" cy="2487168"/>
          </a:xfrm>
          <a:prstGeom prst="roundRect">
            <a:avLst>
              <a:gd name="adj" fmla="val 3676"/>
            </a:avLst>
          </a:prstGeom>
          <a:solidFill>
            <a:srgbClr val="162236"/>
          </a:solidFill>
          <a:ln/>
          <a:effectLst>
            <a:outerShdw blurRad="1270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7050024" y="2514600"/>
            <a:ext cx="585216" cy="585216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7050024" y="25146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C7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126480" y="3227832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Comunicacao 24/7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336792" y="3639312"/>
            <a:ext cx="2011680" cy="27432"/>
          </a:xfrm>
          <a:prstGeom prst="rect">
            <a:avLst/>
          </a:prstGeom>
          <a:solidFill>
            <a:srgbClr val="1C2F4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6153912" y="374904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Manter contato com a base durante o mandato — agenda, noticias, eventos. Sem custo adicional de equipe. A mesma estrutura da campanha continua gerando resultados.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47472" y="914400"/>
            <a:ext cx="475488" cy="475488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347472" y="9144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60120" y="841248"/>
            <a:ext cx="7790688" cy="640080"/>
          </a:xfrm>
          <a:prstGeom prst="roundRect">
            <a:avLst>
              <a:gd name="adj" fmla="val 11429"/>
            </a:avLst>
          </a:prstGeom>
          <a:solidFill>
            <a:srgbClr val="1A3A5C"/>
          </a:solidFill>
          <a:ln/>
          <a:effectLst>
            <a:outerShdw blurRad="1270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1115568" y="886968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Agendamos a reunião presencial  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30 minutos para apresentar a demo ao vivo, tirar dúvidas e definir o plano.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7472" y="1664208"/>
            <a:ext cx="475488" cy="47548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347472" y="16642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60120" y="1591056"/>
            <a:ext cx="7790688" cy="640080"/>
          </a:xfrm>
          <a:prstGeom prst="roundRect">
            <a:avLst>
              <a:gd name="adj" fmla="val 11429"/>
            </a:avLst>
          </a:prstGeom>
          <a:solidFill>
            <a:srgbClr val="162236"/>
          </a:solidFill>
          <a:ln/>
          <a:effectLst>
            <a:outerShdw blurRad="1270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1115568" y="1636776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Reunião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Briefing Eleitoral  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Equipe preenche formulário de 45 min com propostas, tom e agenda.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7472" y="2414016"/>
            <a:ext cx="475488" cy="47548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347472" y="24140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60120" y="2340864"/>
            <a:ext cx="7790688" cy="640080"/>
          </a:xfrm>
          <a:prstGeom prst="roundRect">
            <a:avLst>
              <a:gd name="adj" fmla="val 11429"/>
            </a:avLst>
          </a:prstGeom>
          <a:solidFill>
            <a:srgbClr val="162236"/>
          </a:solidFill>
          <a:ln/>
          <a:effectLst>
            <a:outerShdw blurRad="1270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1115568" y="2386584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horas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ativado  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SyncroFlow configura, testa e entrega o agente pronto para uso.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163824"/>
            <a:ext cx="475488" cy="47548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347472" y="31638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60120" y="3090672"/>
            <a:ext cx="7790688" cy="640080"/>
          </a:xfrm>
          <a:prstGeom prst="roundRect">
            <a:avLst>
              <a:gd name="adj" fmla="val 11429"/>
            </a:avLst>
          </a:prstGeom>
          <a:solidFill>
            <a:srgbClr val="162236"/>
          </a:solidFill>
          <a:ln/>
          <a:effectLst>
            <a:outerShdw blurRad="1270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1115568" y="3136392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Agosto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Propaganda abre  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Roberta começa com vantagem — agente calibrado e gerando dados desde o 1º dia.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47472" y="3913632"/>
            <a:ext cx="475488" cy="47548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347472" y="3913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60120" y="3840480"/>
            <a:ext cx="7790688" cy="640080"/>
          </a:xfrm>
          <a:prstGeom prst="roundRect">
            <a:avLst>
              <a:gd name="adj" fmla="val 11429"/>
            </a:avLst>
          </a:prstGeom>
          <a:solidFill>
            <a:srgbClr val="162236"/>
          </a:solidFill>
          <a:ln/>
          <a:effectLst>
            <a:outerShdw blurRad="1270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1115568" y="38862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2+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Parceria para a rede PL  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Roberta indica candidatos da rede Nikolas. Expansionão da base de usuarios.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47472" y="4608576"/>
            <a:ext cx="8458200" cy="411480"/>
          </a:xfrm>
          <a:prstGeom prst="roundRect">
            <a:avLst>
              <a:gd name="adj" fmla="val 17778"/>
            </a:avLst>
          </a:prstGeom>
          <a:solidFill>
            <a:srgbClr val="C9A22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457200" y="4608576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"Roberta, o Nikolas tem 300 candidatos na rede dele em MG. Você pode ser a primeira."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62236"/>
          </a:solidFill>
          <a:ln/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1085</Words>
  <Application>Microsoft Office PowerPoint</Application>
  <PresentationFormat>Apresentação na tela (16:9)</PresentationFormat>
  <Paragraphs>169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SyncroFlow – Roberta Lopes 2026</dc:title>
  <dc:subject>PptxGenJS Presentation</dc:subject>
  <dc:creator>PptxGenJS</dc:creator>
  <cp:lastModifiedBy>Ana Paula Mendes</cp:lastModifiedBy>
  <cp:revision>1</cp:revision>
  <dcterms:created xsi:type="dcterms:W3CDTF">2026-06-23T22:55:40Z</dcterms:created>
  <dcterms:modified xsi:type="dcterms:W3CDTF">2026-06-23T23:28:51Z</dcterms:modified>
</cp:coreProperties>
</file>